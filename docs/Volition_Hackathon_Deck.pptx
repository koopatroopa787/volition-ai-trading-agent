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4be653f5cf40a8" /><Relationship Type="http://schemas.openxmlformats.org/officeDocument/2006/relationships/extended-properties" Target="/docProps/app.xml" Id="Rfc66dfad8cf44b7f" /><Relationship Type="http://schemas.openxmlformats.org/officeDocument/2006/relationships/officeDocument" Target="/ppt/presentation.xml" Id="R364b7ef19b6142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c1e3087a5042d2"/>
  </p:sldMasterIdLst>
  <p:notesMasterIdLst>
    <p:notesMasterId xmlns:r="http://schemas.openxmlformats.org/officeDocument/2006/relationships" r:id="Rda51a6bcda9e4a17"/>
  </p:notesMasterIdLst>
  <p:sldIdLst>
    <p:sldId xmlns:r="http://schemas.openxmlformats.org/officeDocument/2006/relationships" id="256" r:id="R34dfee6024f1410e"/>
    <p:sldId xmlns:r="http://schemas.openxmlformats.org/officeDocument/2006/relationships" id="257" r:id="Ra2f2d48521274ac1"/>
    <p:sldId xmlns:r="http://schemas.openxmlformats.org/officeDocument/2006/relationships" id="258" r:id="Rb347e6e6839c4b93"/>
    <p:sldId xmlns:r="http://schemas.openxmlformats.org/officeDocument/2006/relationships" id="259" r:id="R37a7a8be123c473f"/>
    <p:sldId xmlns:r="http://schemas.openxmlformats.org/officeDocument/2006/relationships" id="260" r:id="R0d654416ea934363"/>
    <p:sldId xmlns:r="http://schemas.openxmlformats.org/officeDocument/2006/relationships" id="261" r:id="R0fadfda288bb414d"/>
    <p:sldId xmlns:r="http://schemas.openxmlformats.org/officeDocument/2006/relationships" id="262" r:id="Rb329b323da7f4baf"/>
    <p:sldId xmlns:r="http://schemas.openxmlformats.org/officeDocument/2006/relationships" id="263" r:id="Reb70b59f0be64d95"/>
    <p:sldId xmlns:r="http://schemas.openxmlformats.org/officeDocument/2006/relationships" id="264" r:id="Re4c872b3d5174b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c92ddcfd8f4a07" /><Relationship Type="http://schemas.openxmlformats.org/officeDocument/2006/relationships/slideMaster" Target="/ppt/slideMasters/slideMaster1.xml" Id="Rfec1e3087a5042d2" /><Relationship Type="http://schemas.openxmlformats.org/officeDocument/2006/relationships/notesMaster" Target="/ppt/notesMasters/notesMaster1.xml" Id="Rda51a6bcda9e4a17" /><Relationship Type="http://schemas.openxmlformats.org/officeDocument/2006/relationships/presProps" Target="/ppt/presProps.xml" Id="R280c6ede75fa4ff0" /><Relationship Type="http://schemas.openxmlformats.org/officeDocument/2006/relationships/tableStyles" Target="/ppt/tableStyles.xml" Id="R2909621023284ce5" /><Relationship Type="http://schemas.openxmlformats.org/officeDocument/2006/relationships/slide" Target="/ppt/slides/slide1.xml" Id="R34dfee6024f1410e" /><Relationship Type="http://schemas.openxmlformats.org/officeDocument/2006/relationships/slide" Target="/ppt/slides/slide2.xml" Id="Ra2f2d48521274ac1" /><Relationship Type="http://schemas.openxmlformats.org/officeDocument/2006/relationships/slide" Target="/ppt/slides/slide3.xml" Id="Rb347e6e6839c4b93" /><Relationship Type="http://schemas.openxmlformats.org/officeDocument/2006/relationships/slide" Target="/ppt/slides/slide4.xml" Id="R37a7a8be123c473f" /><Relationship Type="http://schemas.openxmlformats.org/officeDocument/2006/relationships/slide" Target="/ppt/slides/slide5.xml" Id="R0d654416ea934363" /><Relationship Type="http://schemas.openxmlformats.org/officeDocument/2006/relationships/slide" Target="/ppt/slides/slide6.xml" Id="R0fadfda288bb414d" /><Relationship Type="http://schemas.openxmlformats.org/officeDocument/2006/relationships/slide" Target="/ppt/slides/slide7.xml" Id="Rb329b323da7f4baf" /><Relationship Type="http://schemas.openxmlformats.org/officeDocument/2006/relationships/slide" Target="/ppt/slides/slide8.xml" Id="Reb70b59f0be64d95" /><Relationship Type="http://schemas.openxmlformats.org/officeDocument/2006/relationships/slide" Target="/ppt/slides/slide9.xml" Id="Re4c872b3d5174b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3b8d97f01049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9f6fa08ce7431e" /><Relationship Type="http://schemas.openxmlformats.org/officeDocument/2006/relationships/notesMaster" Target="/ppt/notesMasters/notesMaster1.xml" Id="R6248c99a820347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fb1e4e70434f55" /><Relationship Type="http://schemas.openxmlformats.org/officeDocument/2006/relationships/notesMaster" Target="/ppt/notesMasters/notesMaster1.xml" Id="R80579605fcc644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d0acb1051b4b62" /><Relationship Type="http://schemas.openxmlformats.org/officeDocument/2006/relationships/notesMaster" Target="/ppt/notesMasters/notesMaster1.xml" Id="R0e13d8aa96c14a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765e93046e4f08" /><Relationship Type="http://schemas.openxmlformats.org/officeDocument/2006/relationships/notesMaster" Target="/ppt/notesMasters/notesMaster1.xml" Id="R485934de919941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415d2ff9e141bf" /><Relationship Type="http://schemas.openxmlformats.org/officeDocument/2006/relationships/notesMaster" Target="/ppt/notesMasters/notesMaster1.xml" Id="R89049a1a8b2b44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784d888fc947e5" /><Relationship Type="http://schemas.openxmlformats.org/officeDocument/2006/relationships/notesMaster" Target="/ppt/notesMasters/notesMaster1.xml" Id="Rd59c2a9d4dea44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c86f7a13054337" /><Relationship Type="http://schemas.openxmlformats.org/officeDocument/2006/relationships/notesMaster" Target="/ppt/notesMasters/notesMaster1.xml" Id="R40f850a75ec142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436720ddaf4627" /><Relationship Type="http://schemas.openxmlformats.org/officeDocument/2006/relationships/notesMaster" Target="/ppt/notesMasters/notesMaster1.xml" Id="Rc773ef6e48ab45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2c7b7a896d43ab" /><Relationship Type="http://schemas.openxmlformats.org/officeDocument/2006/relationships/notesMaster" Target="/ppt/notesMasters/notesMaster1.xml" Id="Rb654c4e86d4c44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on the central tension: autonomy is valuable only when the system can prove why it acted—or refused.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https://lablab.ai/ai-hackathons/alpaca-ai-trading-agents-hackathon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project as a complete operating loop rather than another signal generator. The product's differentiation is governance, reconciliation, and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Emphasize that the AI committee cannot invent option symbols, resize an order, or bypass a 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https://docs.alpaca.markets/us/docs/alpacas-cli</a:t>
            </a:r>
          </a:p>
          <a:p xmlns:a="http://schemas.openxmlformats.org/drawingml/2006/main">
            <a:r>
              <a:t>- https://alpaca.markets/learn/building-nightwatcher-v2-a-multi-agent-trading-system-with-alpaca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committee is useful because each role makes a different argument. The constitution is useful because it is not an argument: every gate is deterministic and testable.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live screenshot from the public judge build. The scheduler continues server-side; public buttons are disabled because operator actions fail closed without a separate key.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https://instance-20260318-1838.tail042e87.ts.net/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lab works across the expanded universe and exposes assumptions, costs, and model limitations. This visible example is rejected because chain liquidity and stress criteria fail.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https://instance-20260318-1838.tail042e87.ts.net/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chart uses Alpaca portfolio history aligned by date with SPY IEX bars. The account has not submitted orders, so the flat equity and zero P&amp;L are the honest result—not a missing demo prop.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https://instance-20260318-1838.tail042e87.ts.net/api/dashboard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maps the product directly to the hackathon requirements. Be explicit that paper order submission is implemented but intentionally locked pending team authorization.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https://lablab.ai/ai-hackathons/alpaca-ai-trading-agents-hackathon</a:t>
            </a:r>
          </a:p>
          <a:p xmlns:a="http://schemas.openxmlformats.org/drawingml/2006/main">
            <a:r>
              <a:t>- https://docs.alpaca.markets/us/docs/alpacas-cli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resolving the opening tension: Volition is autonomous because it can act, and trustworthy because it can refuse—and prove both.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https://instance-20260318-1838.tail042e87.ts.net/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a45eadd2024a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bc09db503e45a1" /><Relationship Type="http://schemas.openxmlformats.org/officeDocument/2006/relationships/slideLayout" Target="/ppt/slideLayouts/slideLayout1.xml" Id="Rf2ace0ebd0c54b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ace0ebd0c54b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b379533ad490b" /><Relationship Type="http://schemas.openxmlformats.org/officeDocument/2006/relationships/image" Target="/ppt/media/image.png" Id="R20a67bf21b4342e8" /><Relationship Type="http://schemas.openxmlformats.org/officeDocument/2006/relationships/notesSlide" Target="/ppt/notesSlides/notesSlide1.xml" Id="R3a33c7b2d31345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777271fde4047" /><Relationship Type="http://schemas.openxmlformats.org/officeDocument/2006/relationships/notesSlide" Target="/ppt/notesSlides/notesSlide2.xml" Id="Rba2cf1a53b9b43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8f040c91c4dbf" /><Relationship Type="http://schemas.openxmlformats.org/officeDocument/2006/relationships/notesSlide" Target="/ppt/notesSlides/notesSlide3.xml" Id="Rcfbc97db22054b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123c98bc04a78" /><Relationship Type="http://schemas.openxmlformats.org/officeDocument/2006/relationships/notesSlide" Target="/ppt/notesSlides/notesSlide4.xml" Id="Rf452369c734f46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0de33d5cc46c9" /><Relationship Type="http://schemas.openxmlformats.org/officeDocument/2006/relationships/image" Target="/ppt/media/image.jpeg" Id="R770c5509ce254346" /><Relationship Type="http://schemas.openxmlformats.org/officeDocument/2006/relationships/notesSlide" Target="/ppt/notesSlides/notesSlide5.xml" Id="R5808b4d7e65e4c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5d3fc887c47b4" /><Relationship Type="http://schemas.openxmlformats.org/officeDocument/2006/relationships/image" Target="/ppt/media/image2.jpeg" Id="Ra0c22d2e1cb84072" /><Relationship Type="http://schemas.openxmlformats.org/officeDocument/2006/relationships/notesSlide" Target="/ppt/notesSlides/notesSlide6.xml" Id="Raad1fde7d12744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ec921ff4a458d" /><Relationship Type="http://schemas.openxmlformats.org/officeDocument/2006/relationships/chart" Target="/ppt/slides/charts/chart1.xml" Id="R6c487f4050654bff" /><Relationship Type="http://schemas.openxmlformats.org/officeDocument/2006/relationships/notesSlide" Target="/ppt/notesSlides/notesSlide7.xml" Id="Re52259e06b0a4e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f3a987c7e40d6" /><Relationship Type="http://schemas.openxmlformats.org/officeDocument/2006/relationships/notesSlide" Target="/ppt/notesSlides/notesSlide8.xml" Id="Rb2db1b33168745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3262842184208" /><Relationship Type="http://schemas.openxmlformats.org/officeDocument/2006/relationships/notesSlide" Target="/ppt/notesSlides/notesSlide9.xml" Id="Rb1f8d8d9fbf14954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Volition</c:v>
          </c:tx>
          <c:spPr>
            <a:solidFill xmlns:a="http://schemas.openxmlformats.org/drawingml/2006/main">
              <a:srgbClr val="173D2A"/>
            </a:solidFill>
          </c:spPr>
          <c:marker>
            <c:symbol val="none"/>
          </c:marker>
          <c:cat>
            <c:strLit>
              <c:ptCount val="4"/>
              <c:pt idx="0">
                <c:v>Aug 28</c:v>
              </c:pt>
              <c:pt idx="1">
                <c:v>Aug 29</c:v>
              </c:pt>
              <c:pt idx="2">
                <c:v>Sep 1</c:v>
              </c:pt>
              <c:pt idx="3">
                <c:v>Sep 2</c:v>
              </c:pt>
            </c:strLit>
          </c:cat>
          <c:val>
            <c:numLit>
              <c:formatCode>General</c:formatCode>
              <c:ptCount val="4"/>
              <c:pt idx="0">
                <c:v>100000</c:v>
              </c:pt>
              <c:pt idx="1">
                <c:v>100000</c:v>
              </c:pt>
              <c:pt idx="2">
                <c:v>100000</c:v>
              </c:pt>
              <c:pt idx="3">
                <c:v>100000</c:v>
              </c:pt>
            </c:numLit>
          </c:val>
        </c:ser>
        <c:ser>
          <c:idx val="1"/>
          <c:order val="1"/>
          <c:tx>
            <c:v>SPY benchmark</c:v>
          </c:tx>
          <c:spPr>
            <a:solidFill xmlns:a="http://schemas.openxmlformats.org/drawingml/2006/main">
              <a:srgbClr val="416C8A"/>
            </a:solidFill>
          </c:spPr>
          <c:marker>
            <c:symbol val="none"/>
          </c:marker>
          <c:cat>
            <c:strLit>
              <c:ptCount val="4"/>
              <c:pt idx="0">
                <c:v>Aug 28</c:v>
              </c:pt>
              <c:pt idx="1">
                <c:v>Aug 29</c:v>
              </c:pt>
              <c:pt idx="2">
                <c:v>Sep 1</c:v>
              </c:pt>
              <c:pt idx="3">
                <c:v>Sep 2</c:v>
              </c:pt>
            </c:strLit>
          </c:cat>
          <c:val>
            <c:numLit>
              <c:formatCode>General</c:formatCode>
              <c:ptCount val="4"/>
              <c:pt idx="0">
                <c:v>100000</c:v>
              </c:pt>
              <c:pt idx="1">
                <c:v>100000</c:v>
              </c:pt>
              <c:pt idx="2">
                <c:v>99005.56</c:v>
              </c:pt>
              <c:pt idx="3">
                <c:v>99462.48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1C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a67bf21b4342e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2EFEF9-B171-4FFC-AD7D-7D9FEBA7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00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6">
              <a:alpha val="9098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4DD63-46DB-48C6-857D-4E52DDF8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3D2A"/>
                </a:solidFill>
                <a:latin typeface="Arial"/>
                <a:ea typeface="Arial"/>
                <a:cs typeface="Arial"/>
              </a:rPr>
              <a:t>ALPACA AI TRADING AGENTS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88B7D-8E6F-4974-8D5E-E98B9280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095"/>
          </a:bodyPr>
          <a:lstStyle xmlns:a="http://schemas.openxmlformats.org/drawingml/2006/main"/>
          <a:p xmlns:a="http://schemas.openxmlformats.org/drawingml/2006/main">
            <a:pPr algn="l">
              <a:defRPr sz="5250" b="0" i="0">
                <a:solidFill>
                  <a:srgbClr val="17231D"/>
                </a:solidFill>
                <a:latin typeface="Georgia"/>
                <a:ea typeface="Georgia"/>
                <a:cs typeface="Georgia"/>
              </a:defRPr>
            </a:pPr>
            <a:r>
              <a:rPr sz="5250" b="0" i="0">
                <a:solidFill>
                  <a:srgbClr val="17231D"/>
                </a:solidFill>
                <a:latin typeface="Georgia"/>
                <a:ea typeface="Georgia"/>
                <a:cs typeface="Georgia"/>
              </a:rPr>
              <a:t>Volition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D6811-C47E-4F73-A6A0-128A1FF1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4857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7231D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17231D"/>
                </a:solidFill>
                <a:latin typeface="Georgia"/>
                <a:ea typeface="Georgia"/>
                <a:cs typeface="Georgia"/>
              </a:rPr>
              <a:t>The autonomous options desk</a:t>
            </a:r>
          </a:p>
          <a:p xmlns:a="http://schemas.openxmlformats.org/drawingml/2006/main">
            <a:pPr algn="l">
              <a:defRPr sz="2250" b="0" i="0">
                <a:solidFill>
                  <a:srgbClr val="17231D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17231D"/>
                </a:solidFill>
                <a:latin typeface="Georgia"/>
                <a:ea typeface="Georgia"/>
                <a:cs typeface="Georgia"/>
              </a:rPr>
              <a:t>that knows when not to trade.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571500" y="398145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7791F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7F81A-C6B3-428D-A1BC-3D8EE1EF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16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169"/>
                </a:solidFill>
                <a:latin typeface="Arial"/>
                <a:ea typeface="Arial"/>
                <a:cs typeface="Arial"/>
              </a:rPr>
              <a:t>Private AI committee · deterministic risk veto · Alpaca paper lifecycle · tamper-evident 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FBB74-158F-4103-ABE4-911BB345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3D2A"/>
                </a:solidFill>
                <a:latin typeface="Arial"/>
                <a:ea typeface="Arial"/>
                <a:cs typeface="Arial"/>
              </a:rPr>
              <a:t>Hosted judge build  •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0998266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B688A7-DE17-4458-8223-38DF70EA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3D2A"/>
                </a:solidFill>
                <a:latin typeface="Arial"/>
                <a:ea typeface="Arial"/>
                <a:cs typeface="Arial"/>
              </a:rPr>
              <a:t>VOLITION /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86D68-B7DE-43CC-911A-6FB778C7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17231D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17231D"/>
                </a:solidFill>
                <a:latin typeface="Georgia"/>
                <a:ea typeface="Georgia"/>
                <a:cs typeface="Georgia"/>
              </a:rPr>
              <a:t>A recommendation is not an autonomous trading system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514350" y="1381125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1C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94F48-819F-41C9-AE11-9AE41714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16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16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890A0-E43B-40C1-9D42-2EA670D8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590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7231D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17231D"/>
                </a:solidFill>
                <a:latin typeface="Georgia"/>
                <a:ea typeface="Georgia"/>
                <a:cs typeface="Georgia"/>
              </a:rPr>
              <a:t>Most agent demos end at “buy” or “sell.” The hard part starts one second later.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496F6-4D5C-4A50-BF1D-3C1B6F77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5524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16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7169"/>
                </a:solidFill>
                <a:latin typeface="Arial"/>
                <a:ea typeface="Arial"/>
                <a:cs typeface="Arial"/>
              </a:rPr>
              <a:t>Without governed execution, the model can overreach, broker state can drift, and a backtest can be mistaken for real performance.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88FA5-28CF-4E23-ADF0-5C5CC0D9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28800"/>
            <a:ext cx="48196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D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BF463C-42EA-4549-AC86-76766979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002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3D2A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B500D-BE28-49C6-BCFE-D7FD2967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669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31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31D"/>
                </a:solidFill>
                <a:latin typeface="Arial"/>
                <a:ea typeface="Arial"/>
                <a:cs typeface="Arial"/>
              </a:rPr>
              <a:t>Who can veto the model?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0E1C9-D7B1-417A-A028-19BBF7A4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90850"/>
            <a:ext cx="48196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FE218E-7F96-4D0B-95C8-D7C3F6C8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623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3D2A"/>
                </a:solidFill>
                <a:latin typeface="Arial"/>
                <a:ea typeface="Arial"/>
                <a:cs typeface="Arial"/>
              </a:rPr>
              <a:t>Broker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FFE1B-BA92-45C4-88F5-13ABB9A6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290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31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31D"/>
                </a:solidFill>
                <a:latin typeface="Arial"/>
                <a:ea typeface="Arial"/>
                <a:cs typeface="Arial"/>
              </a:rPr>
              <a:t>Was it accepted, filled, or cancelled?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CF2B9-8B2D-402D-B91F-D90E11A6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52900"/>
            <a:ext cx="48196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7D4B09-C942-497E-A1DB-FC8BA017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243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3D2A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CC76D4-6F24-4E90-870B-A05E8617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910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231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31D"/>
                </a:solidFill>
                <a:latin typeface="Arial"/>
                <a:ea typeface="Arial"/>
                <a:cs typeface="Arial"/>
              </a:rPr>
              <a:t>Did the system learn from verified outcomes?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7D3D51-429F-4DE2-AA77-EDE53961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8162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77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D2A"/>
                </a:solidFill>
                <a:latin typeface="Arial"/>
                <a:ea typeface="Arial"/>
                <a:cs typeface="Arial"/>
              </a:rPr>
              <a:t>Volition was designed around those three missing layers.</a:t>
            </a:r>
          </a:p>
        </p:txBody>
      </p:sp>
    </p:spTree>
    <p:extLst>
      <p:ext uri="{BB962C8B-B14F-4D97-AF65-F5344CB8AC3E}">
        <p14:creationId xmlns:p14="http://schemas.microsoft.com/office/powerpoint/2010/main" val="10163916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23D0D6-AD29-4ED4-85AE-8C475523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3D2A"/>
                </a:solidFill>
                <a:latin typeface="Arial"/>
                <a:ea typeface="Arial"/>
                <a:cs typeface="Arial"/>
              </a:rPr>
              <a:t>VOLITION /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25202-253E-4711-93D7-7B4202B1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17231D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17231D"/>
                </a:solidFill>
                <a:latin typeface="Georgia"/>
                <a:ea typeface="Georgia"/>
                <a:cs typeface="Georgia"/>
              </a:rPr>
              <a:t>Action begins only after two independent veto layers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514350" y="1381125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1C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FD700-40E8-4966-B7B6-2732086C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16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16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1962150" y="33813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91F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7BE4B-386D-4756-BA62-A186D290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305175"/>
            <a:ext cx="190500" cy="1619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9B63A-0826-4D32-B19F-9D2F2169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1581150" cy="23050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1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2BB6CF-AC2C-46AA-AEE4-E39E8DAF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3D2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3F0B7D-93B4-4A5C-B1DD-7D456546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607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231D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17231D"/>
                </a:solidFill>
                <a:latin typeface="Georgia"/>
                <a:ea typeface="Georgia"/>
                <a:cs typeface="Georgia"/>
              </a:rPr>
              <a:t>Alpaca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B6C275-770F-49CB-99EB-53FC9E23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05225"/>
            <a:ext cx="125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16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69"/>
                </a:solidFill>
                <a:latin typeface="Arial"/>
                <a:ea typeface="Arial"/>
                <a:cs typeface="Arial"/>
              </a:rPr>
              <a:t>Account, clock, bars, chains, news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3886200" y="33813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91F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8A005-738A-450F-AA0B-10CD5D7F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05175"/>
            <a:ext cx="190500" cy="1619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97CCBA-F232-49B1-9A50-D065156E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238375"/>
            <a:ext cx="1581150" cy="23050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1C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0BC539-0D33-41E6-A90A-9E8F57E9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1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3D2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13E9C9-C0CC-4AC1-AE55-E4CB5498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8607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231D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17231D"/>
                </a:solidFill>
                <a:latin typeface="Georgia"/>
                <a:ea typeface="Georgia"/>
                <a:cs typeface="Georgia"/>
              </a:rPr>
              <a:t>Strategy router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68EA6D-914E-4F39-BBC5-A0395971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05225"/>
            <a:ext cx="125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16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69"/>
                </a:solidFill>
                <a:latin typeface="Arial"/>
                <a:ea typeface="Arial"/>
                <a:cs typeface="Arial"/>
              </a:rPr>
              <a:t>Defined-risk spread or cash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5810250" y="33813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91F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99389C-AE26-445B-AC8A-E8BC1EBB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05175"/>
            <a:ext cx="190500" cy="1619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B44C9F-3C88-44CB-826A-7463D15B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38375"/>
            <a:ext cx="1581150" cy="23050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1C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2D5687-32CB-4D53-801C-56E7912F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1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3D2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A9FBE5-C128-4B6E-8FD5-E515B62F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8607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231D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17231D"/>
                </a:solidFill>
                <a:latin typeface="Georgia"/>
                <a:ea typeface="Georgia"/>
                <a:cs typeface="Georgia"/>
              </a:rPr>
              <a:t>Private Qwen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1F10D3-539A-4848-8EA5-D40D9311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05225"/>
            <a:ext cx="125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16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69"/>
                </a:solidFill>
                <a:latin typeface="Arial"/>
                <a:ea typeface="Arial"/>
                <a:cs typeface="Arial"/>
              </a:rPr>
              <a:t>Three adversarial opinions</a:t>
            </a:r>
          </a:p>
        </p:txBody>
      </p:sp>
      <p:cxnSp>
        <p:nvCxnSpPr>
          <p:cNvPr id="62" name=""/>
          <p:cNvCxnSpPr/>
          <p:nvPr/>
        </p:nvCxnSpPr>
        <p:spPr>
          <a:xfrm xmlns:a="http://schemas.openxmlformats.org/drawingml/2006/main">
            <a:off x="7734300" y="33813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91F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38E90C-B8EA-42D5-9A77-BFAEE9B4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05175"/>
            <a:ext cx="190500" cy="1619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DB13A8-8B62-4568-B0A8-9FD97AFD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38375"/>
            <a:ext cx="1581150" cy="23050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173D2A"/>
          </a:solidFill>
          <a:ln xmlns:a="http://schemas.openxmlformats.org/drawingml/2006/main" w="9525">
            <a:solidFill>
              <a:srgbClr val="173D2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857B53-96BF-4FC4-B8D0-04072518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1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F1E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5F1E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A8F693-035F-4CD7-85F4-54C4C360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8607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Risk gates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320B35-A0A7-4A2E-A4F9-DCD0E60B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05225"/>
            <a:ext cx="125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DE5D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DDE5DC"/>
                </a:solidFill>
                <a:latin typeface="Arial"/>
                <a:ea typeface="Arial"/>
                <a:cs typeface="Arial"/>
              </a:rPr>
              <a:t>16 deterministic checks</a:t>
            </a:r>
          </a:p>
        </p:txBody>
      </p:sp>
      <p:cxnSp>
        <p:nvCxnSpPr>
          <p:cNvPr id="68" name=""/>
          <p:cNvCxnSpPr/>
          <p:nvPr/>
        </p:nvCxnSpPr>
        <p:spPr>
          <a:xfrm xmlns:a="http://schemas.openxmlformats.org/drawingml/2006/main">
            <a:off x="9658350" y="33813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91F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89D787-7ADC-402C-BC2B-05061492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05175"/>
            <a:ext cx="190500" cy="1619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0AE341-2CF0-4406-9D97-FB5E1C96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38375"/>
            <a:ext cx="1581150" cy="23050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1C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006E74-6EFE-4C44-9799-1CECBBCB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1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3D2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1DE6D5-B8C8-450D-81A9-7FF5E095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8607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231D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17231D"/>
                </a:solidFill>
                <a:latin typeface="Georgia"/>
                <a:ea typeface="Georgia"/>
                <a:cs typeface="Georgia"/>
              </a:rPr>
              <a:t>Paper lifecycle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0E16A0-02D4-4A24-9057-E3D73F88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05225"/>
            <a:ext cx="125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16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69"/>
                </a:solidFill>
                <a:latin typeface="Arial"/>
                <a:ea typeface="Arial"/>
                <a:cs typeface="Arial"/>
              </a:rPr>
              <a:t>Submit, reconcile, manage exit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A49864-C8F2-44B5-BD84-1A2FA9D4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38375"/>
            <a:ext cx="1581150" cy="23050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1C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8FE306-D93B-40F1-A575-91DC71F1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1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3D2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5D855C-4F20-49DD-AFC3-AB46EA12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8607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231D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17231D"/>
                </a:solidFill>
                <a:latin typeface="Georgia"/>
                <a:ea typeface="Georgia"/>
                <a:cs typeface="Georgia"/>
              </a:rPr>
              <a:t>Audit memory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9D5EA7-971D-4872-A890-9CA00F78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05225"/>
            <a:ext cx="125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16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69"/>
                </a:solidFill>
                <a:latin typeface="Arial"/>
                <a:ea typeface="Arial"/>
                <a:cs typeface="Arial"/>
              </a:rPr>
              <a:t>Passport, receipts, verified outcomes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D1C4CB-6939-4738-A261-C66AF9EE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7231D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7231D"/>
                </a:solidFill>
                <a:latin typeface="Georgia"/>
                <a:ea typeface="Georgia"/>
                <a:cs typeface="Georgia"/>
              </a:rPr>
              <a:t>AI interprets evidence. Code alone owns structure, size, permission, and final authority.</a:t>
            </a:r>
          </a:p>
        </p:txBody>
      </p:sp>
    </p:spTree>
    <p:extLst>
      <p:ext uri="{BB962C8B-B14F-4D97-AF65-F5344CB8AC3E}">
        <p14:creationId xmlns:p14="http://schemas.microsoft.com/office/powerpoint/2010/main" val="18760592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8E851B-D945-44FC-A052-FE4A5630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3D2A"/>
                </a:solidFill>
                <a:latin typeface="Arial"/>
                <a:ea typeface="Arial"/>
                <a:cs typeface="Arial"/>
              </a:rPr>
              <a:t>VOLITION / GOVERNANCE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348ED-7FC2-4449-AEC8-6670795F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17231D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17231D"/>
                </a:solidFill>
                <a:latin typeface="Georgia"/>
                <a:ea typeface="Georgia"/>
                <a:cs typeface="Georgia"/>
              </a:rPr>
              <a:t>The model can argue. It cannot grant itself permission.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514350" y="1381125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1C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99079F-5A91-4A53-9411-B4D40EF8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16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16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E9598C-A065-4D9B-B386-43CFE202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73D2A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173D2A"/>
                </a:solidFill>
                <a:latin typeface="Georgia"/>
                <a:ea typeface="Georgia"/>
                <a:cs typeface="Georgia"/>
              </a:rPr>
              <a:t>AI committee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5F466-CCDA-4ECE-ABB3-9389F06D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790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6716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7169"/>
                </a:solidFill>
                <a:latin typeface="Arial"/>
                <a:ea typeface="Arial"/>
                <a:cs typeface="Arial"/>
              </a:rPr>
              <a:t>Three roles receive bounded market and structure evidence through a private Qwen endpoint.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63450-7E7A-4EC4-8AA7-A7441737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6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BBAB5-F36A-4D7E-A84A-91B2ED8A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31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31D"/>
                </a:solidFill>
                <a:latin typeface="Arial"/>
                <a:ea typeface="Arial"/>
                <a:cs typeface="Arial"/>
              </a:rPr>
              <a:t>Regime Sentinel challenges direction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8E5F1-9E32-482F-A262-D81FB1B4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E07578-12C2-4EF9-B688-7238F115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31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31D"/>
                </a:solidFill>
                <a:latin typeface="Arial"/>
                <a:ea typeface="Arial"/>
                <a:cs typeface="Arial"/>
              </a:rPr>
              <a:t>Volatility Architect checks structure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B97CA1-4C7F-4F38-BE2A-6962B5DA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57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7D1950-2BFD-49CD-B6E6-D1A9D325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31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31D"/>
                </a:solidFill>
                <a:latin typeface="Arial"/>
                <a:ea typeface="Arial"/>
                <a:cs typeface="Arial"/>
              </a:rPr>
              <a:t>Adversarial Skeptic argues for cash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DB984D-7D69-4400-A236-6A2312A9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66875"/>
            <a:ext cx="5314950" cy="3886200"/>
          </a:xfrm>
          <a:prstGeom xmlns:a="http://schemas.openxmlformats.org/drawingml/2006/main" prst="roundRect">
            <a:avLst>
              <a:gd name="adj" fmla="val 2451"/>
            </a:avLst>
          </a:prstGeom>
          <a:solidFill xmlns:a="http://schemas.openxmlformats.org/drawingml/2006/main">
            <a:srgbClr val="173D2A"/>
          </a:solidFill>
          <a:ln xmlns:a="http://schemas.openxmlformats.org/drawingml/2006/main" w="9525">
            <a:solidFill>
              <a:srgbClr val="173D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A71EBC-0F64-4ADD-A0EA-703F559B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7167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Deterministic constitution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BEEC3D-93D3-46E9-A04D-FEE62BD2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4792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DE5D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DE5DC"/>
                </a:solidFill>
                <a:latin typeface="Arial"/>
                <a:ea typeface="Arial"/>
                <a:cs typeface="Arial"/>
              </a:rPr>
              <a:t>Final authority stays in tested code.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B6CE08-B3EE-4894-B55C-5328D6CB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86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4AB9A6-1C10-4105-B7AD-72EF6639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099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Defined-risk geometry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954C35-E51A-4195-89D5-66039EEF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57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412D0B-A786-488C-AB0D-EBDADAD7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813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Liquidity + fresh quotes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77AC42-77C3-483E-AD47-AC3373A9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26C59F-347C-4097-8DAF-A877D7E5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52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Account + options level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5502AC-83AE-4D0B-B17D-4FF7406C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0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5F69AF-E350-4A5B-BA4D-4BF03D44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243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Drawdown + concentration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034D9A-2489-4077-B2FE-41BED718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72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7EFABF-582C-4FAA-B28E-24F477EE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958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Monte Carlo veto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2FC91D-795A-4FEE-BF10-5D4131ED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43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F453B9-FEB0-4742-8745-854BFEAD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672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Duplicate + market-window checks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E9BCD4-DD0E-40E7-961A-0AA2B14D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84A3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A84A3F"/>
                </a:solidFill>
                <a:latin typeface="Arial"/>
                <a:ea typeface="Arial"/>
                <a:cs typeface="Arial"/>
              </a:rPr>
              <a:t>Fallback is explicit, bounded, and visible—not silent.</a:t>
            </a:r>
          </a:p>
        </p:txBody>
      </p:sp>
    </p:spTree>
    <p:extLst>
      <p:ext uri="{BB962C8B-B14F-4D97-AF65-F5344CB8AC3E}">
        <p14:creationId xmlns:p14="http://schemas.microsoft.com/office/powerpoint/2010/main" val="10531186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7FAC22-E762-45B1-B44B-E9E9737F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3D2A"/>
                </a:solidFill>
                <a:latin typeface="Arial"/>
                <a:ea typeface="Arial"/>
                <a:cs typeface="Arial"/>
              </a:rPr>
              <a:t>VOLITION / LIVE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31009-FBFD-4B20-823A-F458E6E2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496"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17231D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17231D"/>
                </a:solidFill>
                <a:latin typeface="Georgia"/>
                <a:ea typeface="Georgia"/>
                <a:cs typeface="Georgia"/>
              </a:rPr>
              <a:t>The deployed desk is connected, autonomous—and intentionally locked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514350" y="1381125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1C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DFD81-07C6-47C3-AD3C-95265E1C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16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16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CBE7D-BCC3-4FF3-B762-530F15B2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81915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1CA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c5509ce254346"/>
          <a:srcRect xmlns:a="http://schemas.openxmlformats.org/drawingml/2006/main" l="0" t="2177" r="0" b="21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04975"/>
            <a:ext cx="8039100" cy="4324350"/>
          </a:xfrm>
          <a:prstGeom xmlns:a="http://schemas.openxmlformats.org/drawingml/2006/main" prst="roundRect">
            <a:avLst>
              <a:gd name="adj" fmla="val 110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45A9B2-1089-413B-A124-C2850FA0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6859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73D2A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173D2A"/>
                </a:solidFill>
                <a:latin typeface="Georgia"/>
                <a:ea typeface="Georgia"/>
                <a:cs typeface="Georgia"/>
              </a:rPr>
              <a:t>$100k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E3979E-5DF9-4E93-BBAC-DC665AD7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1455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16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169"/>
                </a:solidFill>
                <a:latin typeface="Arial"/>
                <a:ea typeface="Arial"/>
                <a:cs typeface="Arial"/>
              </a:rPr>
              <a:t>fresh paper account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9105900" y="2524125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1CA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CADF4-51BE-4D87-A578-C53DD844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336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73D2A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173D2A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2DA3C-88AD-45DB-A857-E83D7750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623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16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169"/>
                </a:solidFill>
                <a:latin typeface="Arial"/>
                <a:ea typeface="Arial"/>
                <a:cs typeface="Arial"/>
              </a:rPr>
              <a:t>tradable symbols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9105900" y="3571875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1CA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C5E80-904A-4176-9871-D1B4AA8B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814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73D2A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173D2A"/>
                </a:solidFill>
                <a:latin typeface="Georgia"/>
                <a:ea typeface="Georgia"/>
                <a:cs typeface="Georgia"/>
              </a:rPr>
              <a:t>Qwen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DCAF9A-1255-4DF1-9776-BBCF2AFF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1005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16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169"/>
                </a:solidFill>
                <a:latin typeface="Arial"/>
                <a:ea typeface="Arial"/>
                <a:cs typeface="Arial"/>
              </a:rPr>
              <a:t>private committee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9105900" y="4619625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1CA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43A762-5811-4AFD-BF3C-C0B665F7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8291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B7791F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B7791F"/>
                </a:solidFill>
                <a:latin typeface="Georgia"/>
                <a:ea typeface="Georgia"/>
                <a:cs typeface="Georgia"/>
              </a:rPr>
              <a:t>Locked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AE1BC2-3B4A-485E-9B8E-10541A7F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2578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16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169"/>
                </a:solidFill>
                <a:latin typeface="Arial"/>
                <a:ea typeface="Arial"/>
                <a:cs typeface="Arial"/>
              </a:rPr>
              <a:t>order authority</a:t>
            </a:r>
          </a:p>
        </p:txBody>
      </p:sp>
    </p:spTree>
    <p:extLst>
      <p:ext uri="{BB962C8B-B14F-4D97-AF65-F5344CB8AC3E}">
        <p14:creationId xmlns:p14="http://schemas.microsoft.com/office/powerpoint/2010/main" val="21012805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4A6E5E-8EF0-42D9-896C-4BE69F24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3D2A"/>
                </a:solidFill>
                <a:latin typeface="Arial"/>
                <a:ea typeface="Arial"/>
                <a:cs typeface="Arial"/>
              </a:rPr>
              <a:t>VOLITION / STRESS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D0A10-88B8-40A4-AC30-6BC77017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17231D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17231D"/>
                </a:solidFill>
                <a:latin typeface="Georgia"/>
                <a:ea typeface="Georgia"/>
                <a:cs typeface="Georgia"/>
              </a:rPr>
              <a:t>Monte Carlo adds a veto, never a permission slip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514350" y="1381125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1C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18A7A-B37C-4B03-A0D5-143FC0FE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16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16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CDD2D-DA1C-4D84-B682-933C8FAD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47825"/>
            <a:ext cx="8248650" cy="44196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5F1E6"/>
          </a:solidFill>
          <a:ln xmlns:a="http://schemas.openxmlformats.org/drawingml/2006/main" w="9525">
            <a:solidFill>
              <a:srgbClr val="CCD1CA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c22d2e1cb84072"/>
          <a:srcRect xmlns:a="http://schemas.openxmlformats.org/drawingml/2006/main" l="0" t="3142" r="0" b="31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24025"/>
            <a:ext cx="8096250" cy="4267200"/>
          </a:xfrm>
          <a:prstGeom xmlns:a="http://schemas.openxmlformats.org/drawingml/2006/main" prst="roundRect">
            <a:avLst>
              <a:gd name="adj" fmla="val 111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A6ED1-CFAE-4FE2-AA57-F96CB396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907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73D2A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173D2A"/>
                </a:solidFill>
                <a:latin typeface="Georgia"/>
                <a:ea typeface="Georgia"/>
                <a:cs typeface="Georgia"/>
              </a:rPr>
              <a:t>5,000 paths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A65232-1D71-4EBA-80DE-5781BFC0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38375"/>
            <a:ext cx="2324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16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169"/>
                </a:solidFill>
                <a:latin typeface="Arial"/>
                <a:ea typeface="Arial"/>
                <a:cs typeface="Arial"/>
              </a:rPr>
              <a:t>reproducible scenario 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47221-A10F-4AAF-BD04-EF0CED9E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908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73D2A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173D2A"/>
                </a:solidFill>
                <a:latin typeface="Georgia"/>
                <a:ea typeface="Georgia"/>
                <a:cs typeface="Georgia"/>
              </a:rPr>
              <a:t>39.0%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DCCF7-EA89-4EA3-BF35-1B736C5E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38525"/>
            <a:ext cx="2324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16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169"/>
                </a:solidFill>
                <a:latin typeface="Arial"/>
                <a:ea typeface="Arial"/>
                <a:cs typeface="Arial"/>
              </a:rPr>
              <a:t>chance of profit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E44466-FAF7-4F15-9749-466CE889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910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A84A3F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A84A3F"/>
                </a:solidFill>
                <a:latin typeface="Georgia"/>
                <a:ea typeface="Georgia"/>
                <a:cs typeface="Georgia"/>
              </a:rPr>
              <a:t>Blocked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6A96F3-690E-4794-A9B7-FF74045B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638675"/>
            <a:ext cx="2324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16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169"/>
                </a:solidFill>
                <a:latin typeface="Arial"/>
                <a:ea typeface="Arial"/>
                <a:cs typeface="Arial"/>
              </a:rPr>
              <a:t>constitution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087E2-15C3-4D38-BFD8-7C57B761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38162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231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231D"/>
                </a:solidFill>
                <a:latin typeface="Arial"/>
                <a:ea typeface="Arial"/>
                <a:cs typeface="Arial"/>
              </a:rPr>
              <a:t>Price fan · expiry P&amp;L · VaR · expected shortfall · near-max-loss probability</a:t>
            </a:r>
          </a:p>
        </p:txBody>
      </p:sp>
    </p:spTree>
    <p:extLst>
      <p:ext uri="{BB962C8B-B14F-4D97-AF65-F5344CB8AC3E}">
        <p14:creationId xmlns:p14="http://schemas.microsoft.com/office/powerpoint/2010/main" val="1289337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A85128-2E27-4A39-A15D-F276227A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3D2A"/>
                </a:solidFill>
                <a:latin typeface="Arial"/>
                <a:ea typeface="Arial"/>
                <a:cs typeface="Arial"/>
              </a:rPr>
              <a:t>VOLITION /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E8FAB-4DB2-43B6-827B-5F8D9F85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258"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17231D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17231D"/>
                </a:solidFill>
                <a:latin typeface="Georgia"/>
                <a:ea typeface="Georgia"/>
                <a:cs typeface="Georgia"/>
              </a:rPr>
              <a:t>Performance and learning begin with broker receipts—not imagination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514350" y="1381125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1C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983E5-4FC1-4F72-966B-91D16B93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16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16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3430C-9B50-4EA3-BD1D-21885EAD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6294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1CA"/>
            </a:solidFill>
            <a:prstDash val="solid"/>
          </a:ln>
        </p:spPr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781050" y="2095500"/>
          <a:ext xmlns:a="http://schemas.openxmlformats.org/drawingml/2006/main" cx="609600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487f4050654bf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A8646E-1093-4EE8-B88B-746F32B5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600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67169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67169"/>
                </a:solidFill>
                <a:latin typeface="Arial"/>
                <a:ea typeface="Arial"/>
                <a:cs typeface="Arial"/>
              </a:rPr>
              <a:t>4 broker observations · 0.00% account return · +0.54% versus SPY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C9DB6-B275-480A-890D-EC9846BE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714500"/>
            <a:ext cx="4114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6CC490-EF41-40B8-9091-6A4D5500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14525"/>
            <a:ext cx="1200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87"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173D2A"/>
                </a:solidFill>
                <a:latin typeface="Georgia"/>
                <a:ea typeface="Georgia"/>
                <a:cs typeface="Georgia"/>
              </a:defRPr>
            </a:pPr>
            <a:r>
              <a:rPr sz="2400" b="0" i="0">
                <a:solidFill>
                  <a:srgbClr val="173D2A"/>
                </a:solidFill>
                <a:latin typeface="Georgia"/>
                <a:ea typeface="Georgia"/>
                <a:cs typeface="Georgia"/>
              </a:rPr>
              <a:t>53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515EEA-7BB2-4158-A361-DA118B54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0977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31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31D"/>
                </a:solidFill>
                <a:latin typeface="Arial"/>
                <a:ea typeface="Arial"/>
                <a:cs typeface="Arial"/>
              </a:rPr>
              <a:t>reviews recorded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F6FF30-A728-4C75-84A6-55CF2F6C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71800"/>
            <a:ext cx="4114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02F831-CB07-47CB-A5D4-28C64D22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71825"/>
            <a:ext cx="1200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87"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A84A3F"/>
                </a:solidFill>
                <a:latin typeface="Georgia"/>
                <a:ea typeface="Georgia"/>
                <a:cs typeface="Georgia"/>
              </a:defRPr>
            </a:pPr>
            <a:r>
              <a:rPr sz="2400" b="0" i="0">
                <a:solidFill>
                  <a:srgbClr val="A84A3F"/>
                </a:solidFill>
                <a:latin typeface="Georgia"/>
                <a:ea typeface="Georgia"/>
                <a:cs typeface="Georgia"/>
              </a:rPr>
              <a:t>43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7E5AD-2807-4D44-AFE7-B6617F64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6707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31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31D"/>
                </a:solidFill>
                <a:latin typeface="Arial"/>
                <a:ea typeface="Arial"/>
                <a:cs typeface="Arial"/>
              </a:rPr>
              <a:t>risk vetoes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5C6AAD-AD8B-4756-AB6C-D48B67F4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29100"/>
            <a:ext cx="4114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26F834-AD03-4DCE-97AC-56AC9B68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29125"/>
            <a:ext cx="1200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87"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B7791F"/>
                </a:solidFill>
                <a:latin typeface="Georgia"/>
                <a:ea typeface="Georgia"/>
                <a:cs typeface="Georgia"/>
              </a:defRPr>
            </a:pPr>
            <a:r>
              <a:rPr sz="2400" b="0" i="0">
                <a:solidFill>
                  <a:srgbClr val="B7791F"/>
                </a:solidFill>
                <a:latin typeface="Georgia"/>
                <a:ea typeface="Georgia"/>
                <a:cs typeface="Georgia"/>
              </a:rPr>
              <a:t>0 / 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65F7A1-FF28-4B0E-A478-357CC2E4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52437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31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31D"/>
                </a:solidFill>
                <a:latin typeface="Arial"/>
                <a:ea typeface="Arial"/>
                <a:cs typeface="Arial"/>
              </a:rPr>
              <a:t>verified closes needed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86D424-C708-4351-BC7B-E477B7F6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610225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16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169"/>
                </a:solidFill>
                <a:latin typeface="Arial"/>
                <a:ea typeface="Arial"/>
                <a:cs typeface="Arial"/>
              </a:rPr>
              <a:t>No preview is labelled as realised P&amp;L. Promotion stays locked until five broker-verified closed outcomes exist.</a:t>
            </a:r>
          </a:p>
        </p:txBody>
      </p:sp>
    </p:spTree>
    <p:extLst>
      <p:ext uri="{BB962C8B-B14F-4D97-AF65-F5344CB8AC3E}">
        <p14:creationId xmlns:p14="http://schemas.microsoft.com/office/powerpoint/2010/main" val="7462017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D8EF18-B483-42FD-973C-2E230E8D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D2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3D2A"/>
                </a:solidFill>
                <a:latin typeface="Arial"/>
                <a:ea typeface="Arial"/>
                <a:cs typeface="Arial"/>
              </a:rPr>
              <a:t>VOLITION / JUDGE FIT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18A0E5-D937-4705-A642-F88B94E5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17231D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17231D"/>
                </a:solidFill>
                <a:latin typeface="Georgia"/>
                <a:ea typeface="Georgia"/>
                <a:cs typeface="Georgia"/>
              </a:rPr>
              <a:t>Every required primitive is visible in one coherent product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514350" y="1381125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D1C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CFE49-5D97-4A95-9215-593518AD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16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16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05FEF-4861-4B0C-8669-61CCD47C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24025"/>
            <a:ext cx="5238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E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F0CCD-F801-42D6-B673-56A31DA9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D2A"/>
          </a:solidFill>
          <a:ln xmlns:a="http://schemas.openxmlformats.org/drawingml/2006/main" w="0">
            <a:solidFill>
              <a:srgbClr val="173D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DC328-9E72-40F4-B27A-E698A467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24050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E4CB0D-4C7D-4DDF-B4C5-E447810C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954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31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231D"/>
                </a:solidFill>
                <a:latin typeface="Arial"/>
                <a:ea typeface="Arial"/>
                <a:cs typeface="Arial"/>
              </a:rPr>
              <a:t>Autonomous options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FA190-534A-4EAF-A966-5454A75D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19325"/>
            <a:ext cx="445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16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169"/>
                </a:solidFill>
                <a:latin typeface="Arial"/>
                <a:ea typeface="Arial"/>
                <a:cs typeface="Arial"/>
              </a:rPr>
              <a:t>15-minute scheduler, multi-strategy router, managed exits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A4A2F-37B4-4463-80E7-8EE1A40C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24025"/>
            <a:ext cx="5238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E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FEFB2-B9DA-4E04-AE19-972C70B1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621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D2A"/>
          </a:solidFill>
          <a:ln xmlns:a="http://schemas.openxmlformats.org/drawingml/2006/main" w="0">
            <a:solidFill>
              <a:srgbClr val="173D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5392C-0012-41DD-8328-89160E32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924050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EB41F9-E80B-4C57-A203-037ECF79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954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31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231D"/>
                </a:solidFill>
                <a:latin typeface="Arial"/>
                <a:ea typeface="Arial"/>
                <a:cs typeface="Arial"/>
              </a:rPr>
              <a:t>Alpaca-native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6C6EC2-8D08-4427-8B11-E8E35CBD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19325"/>
            <a:ext cx="445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16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169"/>
                </a:solidFill>
                <a:latin typeface="Arial"/>
                <a:ea typeface="Arial"/>
                <a:cs typeface="Arial"/>
              </a:rPr>
              <a:t>CLI evidence plane plus atomic mleg Trading API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8DC3C2-BA60-460F-830C-C50E22E1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76575"/>
            <a:ext cx="5238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5F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C668A6-780C-49BF-8C48-8E944677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D2A"/>
          </a:solidFill>
          <a:ln xmlns:a="http://schemas.openxmlformats.org/drawingml/2006/main" w="0">
            <a:solidFill>
              <a:srgbClr val="173D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7656F3-F309-4ECA-8B6C-2D966023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76600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617529-F7CB-4369-A7D4-59D7E7B0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480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31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231D"/>
                </a:solidFill>
                <a:latin typeface="Arial"/>
                <a:ea typeface="Arial"/>
                <a:cs typeface="Arial"/>
              </a:rPr>
              <a:t>Fresh competition account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38F33F-7A6C-4EEC-B24D-06340325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71875"/>
            <a:ext cx="445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16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169"/>
                </a:solidFill>
                <a:latin typeface="Arial"/>
                <a:ea typeface="Arial"/>
                <a:cs typeface="Arial"/>
              </a:rPr>
              <a:t>$100,000 paper balance and options Level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91A2F3-27B4-4208-B458-CD6B5FC2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76575"/>
            <a:ext cx="5238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5F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9B6D8B-30D0-4167-ABEF-0567E7DD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147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D2A"/>
          </a:solidFill>
          <a:ln xmlns:a="http://schemas.openxmlformats.org/drawingml/2006/main" w="0">
            <a:solidFill>
              <a:srgbClr val="173D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88D838-0AAC-4C03-8836-DD49026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276600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25538E-374A-4ACA-A95F-049FB1C1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480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31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231D"/>
                </a:solidFill>
                <a:latin typeface="Arial"/>
                <a:ea typeface="Arial"/>
                <a:cs typeface="Arial"/>
              </a:rPr>
              <a:t>AI reasoning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DCA586-61A7-417A-A65A-0A4FE516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71875"/>
            <a:ext cx="445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16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169"/>
                </a:solidFill>
                <a:latin typeface="Arial"/>
                <a:ea typeface="Arial"/>
                <a:cs typeface="Arial"/>
              </a:rPr>
              <a:t>Private Qwen committee with per-opinion provenance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44DFAE-D5AC-417D-8D83-5ADB7749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29125"/>
            <a:ext cx="5238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E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AD12AF-5506-4D35-82ED-F5527217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D2A"/>
          </a:solidFill>
          <a:ln xmlns:a="http://schemas.openxmlformats.org/drawingml/2006/main" w="0">
            <a:solidFill>
              <a:srgbClr val="173D2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C47E60-0DE1-49AA-852C-EA6E1EF8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629150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3316D4-DB8F-481A-8FDD-09116D0F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005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31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231D"/>
                </a:solidFill>
                <a:latin typeface="Arial"/>
                <a:ea typeface="Arial"/>
                <a:cs typeface="Arial"/>
              </a:rPr>
              <a:t>Risk + transparency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15ED31-DA82-4EC4-8853-B11CF48B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24425"/>
            <a:ext cx="445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16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169"/>
                </a:solidFill>
                <a:latin typeface="Arial"/>
                <a:ea typeface="Arial"/>
                <a:cs typeface="Arial"/>
              </a:rPr>
              <a:t>Deterministic vetoes, hashes, lifecycle receipts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8ADE24-21FB-492F-B699-5CDFA9EE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29125"/>
            <a:ext cx="52387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E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C85F48-E1E2-4FC7-88F3-E6229959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672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D2A"/>
          </a:solidFill>
          <a:ln xmlns:a="http://schemas.openxmlformats.org/drawingml/2006/main" w="0">
            <a:solidFill>
              <a:srgbClr val="173D2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9C2EAB-6337-47B4-B64C-71EAFA7B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29150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843940-B63A-4DA8-A337-2EFF0178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005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31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231D"/>
                </a:solidFill>
                <a:latin typeface="Arial"/>
                <a:ea typeface="Arial"/>
                <a:cs typeface="Arial"/>
              </a:rPr>
              <a:t>Public delivery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40E70E-0C14-442F-9BF0-E23197B4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24425"/>
            <a:ext cx="445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16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169"/>
                </a:solidFill>
                <a:latin typeface="Arial"/>
                <a:ea typeface="Arial"/>
                <a:cs typeface="Arial"/>
              </a:rPr>
              <a:t>HTTPS judge build, responsive UI, read-only controls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DB0842-A827-4421-844F-40511DF9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84A3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84A3F"/>
                </a:solidFill>
                <a:latin typeface="Arial"/>
                <a:ea typeface="Arial"/>
                <a:cs typeface="Arial"/>
              </a:rPr>
              <a:t>The only deliberately unfinished proof is a broker-verified entry → fill → managed exit. Order submission remains off until the team explicitly authorises that paper-account run.</a:t>
            </a:r>
          </a:p>
        </p:txBody>
      </p:sp>
    </p:spTree>
    <p:extLst>
      <p:ext uri="{BB962C8B-B14F-4D97-AF65-F5344CB8AC3E}">
        <p14:creationId xmlns:p14="http://schemas.microsoft.com/office/powerpoint/2010/main" val="3918037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3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C78FD2-BBD0-4A5B-A790-E29CBA1A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DE5D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DE5DC"/>
                </a:solidFill>
                <a:latin typeface="Arial"/>
                <a:ea typeface="Arial"/>
                <a:cs typeface="Arial"/>
              </a:rPr>
              <a:t>VOLITION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8E171-5373-4C6B-A9F4-5EA9CFC8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096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05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agent judges can trust</a:t>
            </a:r>
          </a:p>
          <a:p xmlns:a="http://schemas.openxmlformats.org/drawingml/2006/main">
            <a:pPr algn="l">
              <a:defRPr sz="4050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05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when it says no.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552450" y="339090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7791F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D570A-C435-49C2-A6EF-2FF4C0BF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7810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DDE5DC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DDE5DC"/>
                </a:solidFill>
                <a:latin typeface="Arial"/>
                <a:ea typeface="Arial"/>
                <a:cs typeface="Arial"/>
              </a:rPr>
              <a:t>Autonomous options decisions. Private adversarial reasoning. Deterministic risk. Broker-backed evidence. Honest learning.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7A867-261A-4EAB-9645-D6C551D1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52550"/>
            <a:ext cx="2647950" cy="278130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244B38"/>
          </a:solidFill>
          <a:ln xmlns:a="http://schemas.openxmlformats.org/drawingml/2006/main" w="9525">
            <a:solidFill>
              <a:srgbClr val="5570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92A00-3230-47D1-9281-80567F5A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6192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7791F"/>
                </a:solidFill>
                <a:latin typeface="Arial"/>
                <a:ea typeface="Arial"/>
                <a:cs typeface="Arial"/>
              </a:rPr>
              <a:t>LIVE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39F43-8131-49A3-A65E-57CCEA07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95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Paper account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CBB26B-20FD-40D8-B5D5-FCEF01EF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9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Private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B8139-5153-401D-878F-44EC1FD2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86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Scheduler active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D52758-1716-4A26-B441-2EB5DFC0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81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B7791F"/>
                </a:solidFill>
                <a:latin typeface="Arial"/>
                <a:ea typeface="Arial"/>
                <a:cs typeface="Arial"/>
              </a:rPr>
              <a:t>Orders locked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827D6F-9B36-4866-AB45-6F8E9343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instance-20260318-1838.tail042e87.ts.net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4812C6-D088-4E22-B12D-883D8D70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DDE5DC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DDE5DC"/>
                </a:solidFill>
                <a:latin typeface="Arial"/>
                <a:ea typeface="Arial"/>
                <a:cs typeface="Arial"/>
              </a:rPr>
              <a:t>Alpaca AI Trading Agents Hackathon · 2026</a:t>
            </a:r>
          </a:p>
        </p:txBody>
      </p:sp>
    </p:spTree>
    <p:extLst>
      <p:ext uri="{BB962C8B-B14F-4D97-AF65-F5344CB8AC3E}">
        <p14:creationId xmlns:p14="http://schemas.microsoft.com/office/powerpoint/2010/main" val="13413229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2026-09-02T21:02:25.0460000Z</dcterms:created>
  <dcterms:modified xsi:type="dcterms:W3CDTF">2026-09-02T21:02:25.0460000Z</dcterms:modified>
</coreProperties>
</file>